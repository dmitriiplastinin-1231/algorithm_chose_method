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4630400" cy="8229600"/>
  <p:notesSz cx="8229600" cy="14630400"/>
  <p:embeddedFontLst>
    <p:embeddedFont>
      <p:font typeface="Open Sans" panose="020B0604020202020204" charset="0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3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1789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14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7611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238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948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9747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950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601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8941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8606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2260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9578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4117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3987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386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355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324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36113" y="1339929"/>
            <a:ext cx="10158174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Анализ применимости линеаризации в задачах управления ракетными системами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2236113" y="2312194"/>
            <a:ext cx="10158174" cy="425053"/>
          </a:xfrm>
          <a:prstGeom prst="roundRect">
            <a:avLst>
              <a:gd name="adj" fmla="val 12729"/>
            </a:avLst>
          </a:prstGeom>
          <a:solidFill>
            <a:srgbClr val="C1F1E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4819" y="2489954"/>
            <a:ext cx="160973" cy="1287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54498" y="2427922"/>
            <a:ext cx="9611082" cy="16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Источник: монография по теории управления и баллистике летательных аппаратов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236113" y="2831187"/>
            <a:ext cx="10158174" cy="4058483"/>
          </a:xfrm>
          <a:prstGeom prst="roundRect">
            <a:avLst>
              <a:gd name="adj" fmla="val 133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43733" y="2838807"/>
            <a:ext cx="10142934" cy="28539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372558" y="2896553"/>
            <a:ext cx="1260158" cy="16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Страница</a:t>
            </a:r>
            <a:endParaRPr lang="en-US" sz="1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897749" y="2896553"/>
            <a:ext cx="1256348" cy="16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Раздел</a:t>
            </a:r>
            <a:endParaRPr lang="en-US" sz="1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419130" y="2896553"/>
            <a:ext cx="6838831" cy="16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Суть</a:t>
            </a:r>
            <a:endParaRPr lang="en-US" sz="1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243733" y="3124200"/>
            <a:ext cx="10142934" cy="45529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2372558" y="3181945"/>
            <a:ext cx="1260158" cy="16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136</a:t>
            </a:r>
            <a:endParaRPr lang="en-US" sz="1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897749" y="3181945"/>
            <a:ext cx="1256348" cy="16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§3.3.1</a:t>
            </a:r>
            <a:endParaRPr lang="en-US" sz="1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419130" y="3181945"/>
            <a:ext cx="6838831" cy="33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«...вообще отказаться от способа разложения функционала в ряд, а вычислять текущий прогнозируемый промах по </a:t>
            </a:r>
            <a:r>
              <a:rPr lang="en-US" sz="1000" b="1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полным нелинейным зависимостям</a:t>
            </a: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»</a:t>
            </a:r>
            <a:endParaRPr lang="en-US" sz="1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243733" y="3579495"/>
            <a:ext cx="10142934" cy="62519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2372558" y="3637240"/>
            <a:ext cx="1260158" cy="16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193</a:t>
            </a:r>
            <a:endParaRPr lang="en-US" sz="1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897749" y="3637240"/>
            <a:ext cx="1256348" cy="16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§4.4.3</a:t>
            </a:r>
            <a:endParaRPr lang="en-US" sz="1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419130" y="3637240"/>
            <a:ext cx="6838831" cy="509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«Линеаризованные уравнения ... обеспечивают удовлетворительную точность при начальных расстояниях </a:t>
            </a:r>
            <a:r>
              <a:rPr lang="en-US" sz="1000" b="1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не больше 100÷150 км</a:t>
            </a: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... При больших ... требуют уточнения с привлечением </a:t>
            </a:r>
            <a:r>
              <a:rPr lang="en-US" sz="1000" b="1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исходных нелинейных уравнений движения</a:t>
            </a: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»</a:t>
            </a:r>
            <a:endParaRPr lang="en-US" sz="1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2243733" y="4204692"/>
            <a:ext cx="10142934" cy="45529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2372558" y="4262438"/>
            <a:ext cx="1260158" cy="16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311</a:t>
            </a:r>
            <a:endParaRPr lang="en-US" sz="1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897749" y="4262438"/>
            <a:ext cx="1256348" cy="16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§7.3</a:t>
            </a:r>
            <a:endParaRPr lang="en-US" sz="1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419130" y="4262438"/>
            <a:ext cx="6838831" cy="33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«</a:t>
            </a:r>
            <a:r>
              <a:rPr lang="en-US" sz="1000" b="1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Запаздывание в исполнении команд</a:t>
            </a: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... все возмущения являются </a:t>
            </a:r>
            <a:r>
              <a:rPr lang="en-US" sz="1000" b="1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случайными</a:t>
            </a: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... </a:t>
            </a:r>
            <a:r>
              <a:rPr lang="en-US" sz="1000" b="1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невозможно определить единственную номинальную траекторию</a:t>
            </a: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»</a:t>
            </a:r>
            <a:endParaRPr lang="en-US" sz="1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2243733" y="4659987"/>
            <a:ext cx="10142934" cy="45529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2372558" y="4717733"/>
            <a:ext cx="1260158" cy="16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300</a:t>
            </a:r>
            <a:endParaRPr lang="en-US" sz="1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897749" y="4717733"/>
            <a:ext cx="1256348" cy="16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§7.1</a:t>
            </a:r>
            <a:endParaRPr lang="en-US" sz="1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419130" y="4717733"/>
            <a:ext cx="6838831" cy="33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«...при использовании многошагового терминального наведения </a:t>
            </a:r>
            <a:r>
              <a:rPr lang="en-US" sz="1000" b="1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всегда существует запаздывание</a:t>
            </a: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в реализации командной функции...»</a:t>
            </a:r>
            <a:endParaRPr lang="en-US" sz="1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2243733" y="5115282"/>
            <a:ext cx="10142934" cy="45529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2372558" y="5173028"/>
            <a:ext cx="1260158" cy="16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357</a:t>
            </a:r>
            <a:endParaRPr lang="en-US" sz="1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3897749" y="5173028"/>
            <a:ext cx="1256348" cy="16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§8.2</a:t>
            </a:r>
            <a:endParaRPr lang="en-US" sz="1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419130" y="5173028"/>
            <a:ext cx="6838831" cy="33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«Подвижный стартовый стол может порождать начальные ошибки... </a:t>
            </a:r>
            <a:r>
              <a:rPr lang="en-US" sz="1000" b="1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необходима стохастическая модель возмущений</a:t>
            </a: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»</a:t>
            </a:r>
            <a:endParaRPr lang="en-US" sz="1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2243733" y="5570577"/>
            <a:ext cx="10142934" cy="28539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2372558" y="5628323"/>
            <a:ext cx="1260158" cy="16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372</a:t>
            </a:r>
            <a:endParaRPr lang="en-US" sz="1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3897749" y="5628323"/>
            <a:ext cx="1256348" cy="16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§8.2.5</a:t>
            </a:r>
            <a:endParaRPr lang="en-US" sz="1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5419130" y="5628323"/>
            <a:ext cx="6838831" cy="16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Числа: начальная ошибка по дальности </a:t>
            </a:r>
            <a:r>
              <a:rPr lang="en-US" sz="1000" b="1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±0.5 км</a:t>
            </a: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при подвижном основании (табл. 8.4)</a:t>
            </a:r>
            <a:endParaRPr lang="en-US" sz="1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2243733" y="5855970"/>
            <a:ext cx="10142934" cy="28539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2372558" y="5913715"/>
            <a:ext cx="1260158" cy="16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373</a:t>
            </a:r>
            <a:endParaRPr lang="en-US" sz="1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3897749" y="5913715"/>
            <a:ext cx="1256348" cy="16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§8.3</a:t>
            </a:r>
            <a:endParaRPr lang="en-US" sz="1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5419130" y="5913715"/>
            <a:ext cx="6838831" cy="16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Концепция активной компенсации начальных ошибок — нелинейная задача оптимального управления</a:t>
            </a:r>
            <a:endParaRPr lang="en-US" sz="1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2243733" y="6141363"/>
            <a:ext cx="10142934" cy="28539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2372558" y="6199108"/>
            <a:ext cx="1260158" cy="16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349</a:t>
            </a:r>
            <a:endParaRPr lang="en-US" sz="1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3897749" y="6199108"/>
            <a:ext cx="1256348" cy="16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§8.1</a:t>
            </a:r>
            <a:endParaRPr lang="en-US" sz="1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5419130" y="6199108"/>
            <a:ext cx="6838831" cy="16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«Морской старт ... </a:t>
            </a:r>
            <a:r>
              <a:rPr lang="en-US" sz="1000" b="1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существенно зависит от погодных условий</a:t>
            </a: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»</a:t>
            </a:r>
            <a:endParaRPr lang="en-US" sz="1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2243733" y="6426756"/>
            <a:ext cx="10142934" cy="45529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2372558" y="6484501"/>
            <a:ext cx="1260158" cy="16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4</a:t>
            </a:r>
            <a:endParaRPr lang="en-US" sz="1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3897749" y="6484501"/>
            <a:ext cx="1256348" cy="16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Введение</a:t>
            </a:r>
            <a:endParaRPr lang="en-US" sz="1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5419130" y="6484501"/>
            <a:ext cx="6838831" cy="33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«Задачи </a:t>
            </a:r>
            <a:r>
              <a:rPr lang="en-US" sz="1000" b="1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исполнительной баллистики</a:t>
            </a: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, как правило, решаются с помощью </a:t>
            </a:r>
            <a:r>
              <a:rPr lang="en-US" sz="1000" b="1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ЭВМ</a:t>
            </a:r>
            <a:r>
              <a:rPr lang="en-US" sz="1000" dirty="0">
                <a:solidFill>
                  <a:srgbClr val="333F7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» — т. е. численно, а не линеаризацией</a:t>
            </a:r>
            <a:endParaRPr lang="en-US" sz="1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47" name="Прямоугольник 46"/>
          <p:cNvSpPr/>
          <p:nvPr/>
        </p:nvSpPr>
        <p:spPr>
          <a:xfrm>
            <a:off x="12722942" y="7600335"/>
            <a:ext cx="1907458" cy="6292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1225629"/>
            <a:ext cx="782550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Обоснование критериев применимости линеаризации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402449" y="1969889"/>
            <a:ext cx="3791783" cy="557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Цитата 1 (стр. 136) — «разложение в ряд vs полные нелинейные зависимости»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3402449" y="2577346"/>
            <a:ext cx="3791783" cy="594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Объясняет, </a:t>
            </a:r>
            <a:r>
              <a:rPr lang="en-US" sz="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откуда вообще взялась линеаризация</a:t>
            </a: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это исторический компромисс эпохи аналоговых систем. Все «стандартные» методы управления берут только первые линейные члены ряда Тейлора. С появлением БЦВМ эта необходимость отпала — сам автор прямо говорит, что нужно переходить к полным нелинейным зависимостям.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443788" y="1969889"/>
            <a:ext cx="3791783" cy="371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Цитата 2 (стр. 193) — «линеаризация точна только до 100–150 км»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443788" y="2391370"/>
            <a:ext cx="3791783" cy="475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Даёт </a:t>
            </a:r>
            <a:r>
              <a:rPr lang="en-US" sz="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числовую границу применимости</a:t>
            </a: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при дальностях и временах реального выведения (200–400 км, сотни секунд) линеаризованный результат — лишь «первое приближение», требующее обязательного уточнения нелинейными методами.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402449" y="3321963"/>
            <a:ext cx="3791783" cy="371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Цитата 3 (стр. 311) — «запаздывание — случайный возмущающий фактор»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02449" y="3743444"/>
            <a:ext cx="3791783" cy="475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Объясняет главную проблему: метод линеаризации требует единственной номинальной траектории. Автор прямо пишет: при наличии случайных возмущений (включая запаздывание команд) единственной номинальной траектории </a:t>
            </a:r>
            <a:r>
              <a:rPr lang="en-US" sz="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существует</a:t>
            </a: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есть только «трубка» возможных траекторий.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43788" y="3321963"/>
            <a:ext cx="3791783" cy="371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Цитата 4 (стр. 300) — «запаздывание неустранимо в принципе»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443788" y="3743444"/>
            <a:ext cx="3791783" cy="35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Устанавливает, что задержка — не дефект реализации, а </a:t>
            </a:r>
            <a:r>
              <a:rPr lang="en-US" sz="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структурное математическое свойство</a:t>
            </a: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любого дискретного управления. Линеаризованная непрерывная модель этого просто не видит.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402449" y="4369118"/>
            <a:ext cx="3791783" cy="371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Цитата 5 (стр. 357) — «нужна стохастическая модель»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02449" y="4790599"/>
            <a:ext cx="3791783" cy="35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Прямое методологическое указание автора для подвижного стартового стола (=морской платформы): стохастическая модель, а не детерминированная линеаризованная оценка.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443788" y="4369118"/>
            <a:ext cx="3791783" cy="371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Цитата 6 (стр. 372) — числа ошибок из таблицы 8.4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443788" y="4790599"/>
            <a:ext cx="3791783" cy="35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Показывает </a:t>
            </a:r>
            <a:r>
              <a:rPr lang="en-US" sz="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масштаб проблемы</a:t>
            </a: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ошибка по дальности ±0.5 км, угол ±2.4°, скорость ±34.5 м/с. Эти числа получены методом Монте-Карло. Ошибки не малые, поэтому линеаризация их недооценит.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02449" y="5297329"/>
            <a:ext cx="3791783" cy="371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Цитата 7 (стр. 373) — задача активной компенсации ошибок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02449" y="5718810"/>
            <a:ext cx="3791783" cy="35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Показывает, что линеаризация — это только шаг «оценить ошибку». Дальше нужна нелинейная задача компенсации (вариация тяги), которую линеаризованный метод не решает.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443788" y="5297329"/>
            <a:ext cx="3791783" cy="557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Цитата 8 (стр. 349) — морской старт «существенно зависит от погодных условий»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443788" y="5904786"/>
            <a:ext cx="3791783" cy="35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Определяет природу задачи: морской старт </a:t>
            </a:r>
            <a:r>
              <a:rPr lang="en-US" sz="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стохастичен по природе</a:t>
            </a: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Линеаризация детерминирована. Применять её здесь — методологическое несоответствие.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402449" y="6361986"/>
            <a:ext cx="7825502" cy="641866"/>
          </a:xfrm>
          <a:prstGeom prst="roundRect">
            <a:avLst>
              <a:gd name="adj" fmla="val 6494"/>
            </a:avLst>
          </a:prstGeom>
          <a:solidFill>
            <a:srgbClr val="C1F1E5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628" y="6450806"/>
            <a:ext cx="185976" cy="14882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3786783" y="6436281"/>
            <a:ext cx="5959793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Цитата 9 (стр. 4) — проектная vs исполнительная баллистика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3786783" y="6671786"/>
            <a:ext cx="7341989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Фундаментальное разграничение: задачи с учётом параметров управления (τ) и свойств среды (качка) — это «исполнительная баллистика», решаемая </a:t>
            </a:r>
            <a:r>
              <a:rPr lang="en-US" sz="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только на ЭВМ</a:t>
            </a: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(численно). Метод линеаризации — инструмент «проектной баллистики», где эти факторы намеренно опускаются</a:t>
            </a:r>
            <a:endParaRPr lang="en-US" sz="750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12722942" y="7600335"/>
            <a:ext cx="1907458" cy="6292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8664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Источники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1759267"/>
            <a:ext cx="13042821" cy="5731669"/>
          </a:xfrm>
          <a:prstGeom prst="roundRect">
            <a:avLst>
              <a:gd name="adj" fmla="val 166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176688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462" y="1910596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Страница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3637717" y="1910596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Раздел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894552" y="1910596"/>
            <a:ext cx="670762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Суть цитаты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2417207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462" y="2560915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с. 64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3637717" y="2560915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Гл. 2, введение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894552" y="2560915"/>
            <a:ext cx="670762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Решение удаётся только численным интегрированием → поэтому ЭВМ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3430429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8462" y="3574137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с. 101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3637717" y="3574137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§ 2.4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6894552" y="3574137"/>
            <a:ext cx="670762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«Уравнения движения ЛА в общем случае могут быть проинтегрированы только численно»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4443651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462" y="4587359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с. 65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3637717" y="4587359"/>
            <a:ext cx="27955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§ 2.1.1 «Стартовый участок»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6894552" y="4587359"/>
            <a:ext cx="670762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Стартовый участок изучается с ЭВМ; случайные возмущения → метод статистических испытаний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5456873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462" y="5600581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с. 108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3637717" y="5600581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§ 2.4.3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6894552" y="5600581"/>
            <a:ext cx="670762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ЭВМ снимает ограничения на порядок системы и сложность правых частей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801410" y="6470094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28462" y="6613803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с. 109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3637717" y="6613803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§ 2.4.3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6894552" y="6613803"/>
            <a:ext cx="670762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Рекомендован Рунге—Кутта 4-го порядка с автоматическим выбором шага</a:t>
            </a:r>
            <a:endParaRPr lang="en-US" sz="1750" dirty="0"/>
          </a:p>
        </p:txBody>
      </p:sp>
      <p:sp>
        <p:nvSpPr>
          <p:cNvPr id="28" name="Text 0"/>
          <p:cNvSpPr/>
          <p:nvPr/>
        </p:nvSpPr>
        <p:spPr>
          <a:xfrm>
            <a:off x="793790" y="118586"/>
            <a:ext cx="790991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ru-RU" sz="3900" b="1" dirty="0" smtClean="0">
                <a:solidFill>
                  <a:srgbClr val="333F70"/>
                </a:solidFill>
                <a:ea typeface="Unbounded Bold" pitchFamily="34" charset="-122"/>
              </a:rPr>
              <a:t>Численное интегрирование</a:t>
            </a:r>
            <a:endParaRPr lang="en-US" sz="3900" dirty="0"/>
          </a:p>
        </p:txBody>
      </p:sp>
      <p:sp>
        <p:nvSpPr>
          <p:cNvPr id="29" name="Прямоугольник 28"/>
          <p:cNvSpPr/>
          <p:nvPr/>
        </p:nvSpPr>
        <p:spPr>
          <a:xfrm>
            <a:off x="12722942" y="7600335"/>
            <a:ext cx="1907458" cy="6292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832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2160"/>
            <a:ext cx="790991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Передаточные функции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109073"/>
            <a:ext cx="13042821" cy="5028367"/>
          </a:xfrm>
          <a:prstGeom prst="roundRect">
            <a:avLst>
              <a:gd name="adj" fmla="val 165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116693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9887" y="2243376"/>
            <a:ext cx="15535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Страница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2957751" y="2243376"/>
            <a:ext cx="480667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Точная цитата (на английском)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168759" y="2243376"/>
            <a:ext cx="546187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Суть цитаты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01410" y="2687598"/>
            <a:ext cx="13027581" cy="8884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99887" y="2814280"/>
            <a:ext cx="15535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2957751" y="2814280"/>
            <a:ext cx="480667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"...the toolset for dealing with </a:t>
            </a:r>
            <a:r>
              <a:rPr lang="en-US" sz="1550" b="1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varying time-delays</a:t>
            </a:r>
            <a:r>
              <a:rPr lang="en-US" sz="155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much more limited."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168759" y="2814280"/>
            <a:ext cx="54618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Метод рассчитан только на постоянные задержки; для переменных — ограничен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01410" y="3576042"/>
            <a:ext cx="13027581" cy="8884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99887" y="3702725"/>
            <a:ext cx="15535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2957751" y="3702725"/>
            <a:ext cx="480667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"...decrease </a:t>
            </a:r>
            <a:r>
              <a:rPr lang="en-US" sz="1550" b="1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 margin</a:t>
            </a:r>
            <a:r>
              <a:rPr lang="en-US" sz="155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... decreases the </a:t>
            </a:r>
            <a:r>
              <a:rPr lang="en-US" sz="1550" b="1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gain margin</a:t>
            </a:r>
            <a:r>
              <a:rPr lang="en-US" sz="155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thus moving the system to </a:t>
            </a:r>
            <a:r>
              <a:rPr lang="en-US" sz="1550" b="1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instability</a:t>
            </a:r>
            <a:r>
              <a:rPr lang="en-US" sz="155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."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168759" y="3702725"/>
            <a:ext cx="54618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Метод оперирует частотными метриками, а не физическим смещением в метрах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01410" y="4464487"/>
            <a:ext cx="13027581" cy="8884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99887" y="4591169"/>
            <a:ext cx="15535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1–2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2957751" y="4591169"/>
            <a:ext cx="480667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"...dead time is mostly aroused by transportation lags, measurement lags..."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168759" y="4591169"/>
            <a:ext cx="54618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Метод создавался для медленных LTI-процессов, а не для ракеты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01410" y="5352931"/>
            <a:ext cx="13027581" cy="8884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99887" y="5479613"/>
            <a:ext cx="15535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2957751" y="5479613"/>
            <a:ext cx="480667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"It is a </a:t>
            </a:r>
            <a:r>
              <a:rPr lang="en-US" sz="1550" b="1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model-based controller</a:t>
            </a:r>
            <a:r>
              <a:rPr lang="en-US" sz="155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... In the case of Gp = Gpm and θd = θdm..."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168759" y="5479613"/>
            <a:ext cx="54618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Требует точного совпадения модели и объекта — для ракеты невыполнимо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801410" y="6241375"/>
            <a:ext cx="13027581" cy="8884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99887" y="6368058"/>
            <a:ext cx="15535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2957751" y="6368058"/>
            <a:ext cx="480667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"The analysed process is a </a:t>
            </a:r>
            <a:r>
              <a:rPr lang="en-US" sz="1550" b="1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very slow process</a:t>
            </a:r>
            <a:r>
              <a:rPr lang="en-US" sz="155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..."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168759" y="6368058"/>
            <a:ext cx="54618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Предназначен для очень медленных процессов; ракета — быстрый нелинейный объект</a:t>
            </a:r>
            <a:endParaRPr lang="en-US" sz="1550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12722942" y="7600335"/>
            <a:ext cx="1907458" cy="6292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3510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37924"/>
            <a:ext cx="533400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Итоговый вывод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45483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Все 5 цитат вместе показывают, почему метод передаточных функций / Smith predictor </a:t>
            </a:r>
            <a:r>
              <a:rPr lang="en-US" sz="15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принципиально не подходит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для задачи: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995618"/>
            <a:ext cx="13042821" cy="179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Ракета — нелинейный нестационарный объект (m(t) убывает, аэродинамика нелинейна), а метод требует линейной стационарной модели G(s) = const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Задержка управления при морском старте — переменная и неизвестная точно, а метод требует θ = const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Выходные метрики метода (phase margin, gain margin) — это характеристики регулятора, а не физические координаты в метрах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Метод создан для медленных промышленных процессов, а не для быстрой (~120 с) ракетной динамики</a:t>
            </a:r>
            <a:endParaRPr lang="en-US" sz="155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2722942" y="7600335"/>
            <a:ext cx="1907458" cy="6292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4602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60402" y="1499354"/>
            <a:ext cx="7232094" cy="400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Метод D: Параметрический Sweep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2260402" y="1933099"/>
            <a:ext cx="9221986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Источник: Hanson &amp; Beard (2012) / NASA TP-2010-216447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260402" y="2286714"/>
            <a:ext cx="9053751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Цитаты: почему параметрический sweep ПОДХОДИТ для нашей задачи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260402" y="2651165"/>
            <a:ext cx="10109478" cy="4079081"/>
          </a:xfrm>
          <a:prstGeom prst="roundRect">
            <a:avLst>
              <a:gd name="adj" fmla="val 132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8022" y="2658785"/>
            <a:ext cx="10094238" cy="2833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396252" y="2716054"/>
            <a:ext cx="2263497" cy="16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Раздел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23592" y="2716054"/>
            <a:ext cx="2259687" cy="16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Цитата (оригинал)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47121" y="2716054"/>
            <a:ext cx="4787027" cy="16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Связь с задачей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68022" y="2942153"/>
            <a:ext cx="10094238" cy="95869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396252" y="2999423"/>
            <a:ext cx="2263497" cy="16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Foreword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23592" y="2999423"/>
            <a:ext cx="2259687" cy="84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...the general Monte Carlo approach and methodology outlined in this TP can be extended to other complex NASA space and aeronautic system problems.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47121" y="2999423"/>
            <a:ext cx="4787027" cy="337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Метод распространяется на любые аэрокосмические задачи — в т.ч. морской старт.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68022" y="3900845"/>
            <a:ext cx="10094238" cy="9586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396252" y="3958114"/>
            <a:ext cx="2263497" cy="16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§1 Introduction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23592" y="3958114"/>
            <a:ext cx="2259687" cy="84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Monte Carlo can be used for generating results for a process that includes some probabilistic nature and is too complicated to evaluate directly.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47121" y="3958114"/>
            <a:ext cx="4787027" cy="337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Фаза качки — случайная, система слишком сложна для аналитики — прямое определение применимости.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68022" y="4859536"/>
            <a:ext cx="10094238" cy="62103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396252" y="4916805"/>
            <a:ext cx="2263497" cy="16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§2.1 Epistemic and Aleatory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23592" y="4916805"/>
            <a:ext cx="2259687" cy="506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Aleatory uncertainty is due to inherent randomness in a phenomenon.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47121" y="4916805"/>
            <a:ext cx="4787027" cy="337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Фаза качки φ₀ — алеаторная неопределённость: она случайна по природе и не может быть устранена.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68022" y="5480566"/>
            <a:ext cx="10094238" cy="45219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396252" y="5537835"/>
            <a:ext cx="2263497" cy="16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§2.2 Flight-Day Uncertainties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23592" y="5537835"/>
            <a:ext cx="2259687" cy="337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...items that remain unknown on flight day.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47121" y="5537835"/>
            <a:ext cx="4787027" cy="337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φ₀ неизвестна в день пуска — именно для таких случаев Hanson рекомендует МК/sweep.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68022" y="5932765"/>
            <a:ext cx="10094238" cy="7898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2396252" y="5990034"/>
            <a:ext cx="2263497" cy="16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§4.1 How Many Samples?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23592" y="5990034"/>
            <a:ext cx="2259687" cy="675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...this paper explains a method (order statistics) for determining whether certain probabilistic requirements are met...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47121" y="5990034"/>
            <a:ext cx="4787027" cy="337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Sweep с 8–12 точками достаточен для ответа «меньше или больше 1 км» — не нужны тысячи прогонов.</a:t>
            </a:r>
            <a:endParaRPr lang="en-US" sz="1000" dirty="0"/>
          </a:p>
        </p:txBody>
      </p:sp>
      <p:sp>
        <p:nvSpPr>
          <p:cNvPr id="30" name="Прямоугольник 29"/>
          <p:cNvSpPr/>
          <p:nvPr/>
        </p:nvSpPr>
        <p:spPr>
          <a:xfrm>
            <a:off x="12722942" y="7600335"/>
            <a:ext cx="1907458" cy="6292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7944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7801"/>
            <a:ext cx="12973764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Пояснение к цитатам — почему sweep ПОДХОДИТ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2350770"/>
            <a:ext cx="6422231" cy="2111335"/>
          </a:xfrm>
          <a:prstGeom prst="roundRect">
            <a:avLst>
              <a:gd name="adj" fmla="val 3948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9768" y="255674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Стр. iv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99768" y="2985968"/>
            <a:ext cx="601027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Авторы явно указывают применимость к любым сложным аэрокосмическим задачам. Качка морской платформы — именно такой случай: слишком сложна для прямой аналитики.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414379" y="2350770"/>
            <a:ext cx="6422231" cy="2111335"/>
          </a:xfrm>
          <a:prstGeom prst="roundRect">
            <a:avLst>
              <a:gd name="adj" fmla="val 3948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0357" y="255674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Стр. 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620357" y="2985968"/>
            <a:ext cx="601027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Фаза старта φ₀ обладает «inherent randomness» — это алеаторная неопределённость по классификации Hanson. Параметрический sweep есть детерминированная форма покрытия такой неопределённости.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93790" y="4660463"/>
            <a:ext cx="6422231" cy="2111335"/>
          </a:xfrm>
          <a:prstGeom prst="roundRect">
            <a:avLst>
              <a:gd name="adj" fmla="val 3948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9768" y="486644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Стр. 21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99768" y="5295662"/>
            <a:ext cx="601027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ответа на вопрос «можно ли пренебречь смещением» достаточно найти Y_max по детерминированному sweep из 8 точек. Это дешевле полного МК (2879 прогонов по таблице Hanson), но охватывает всё пространство фаз.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414379" y="4660463"/>
            <a:ext cx="6422231" cy="2111335"/>
          </a:xfrm>
          <a:prstGeom prst="roundRect">
            <a:avLst>
              <a:gd name="adj" fmla="val 3948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0357" y="486644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Стр. 21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620357" y="5295662"/>
            <a:ext cx="601027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Sweep вместо МК обоснован, потому что у нас одна неопределённость (φ₀) и периодическая функция — 8 равномерных точек на периоде покрывают её полностью без статистических артефактов.</a:t>
            </a:r>
            <a:endParaRPr lang="en-US" sz="1550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12722942" y="7600335"/>
            <a:ext cx="1907458" cy="6292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3585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1634" y="1363028"/>
            <a:ext cx="13247013" cy="1049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Цитаты: почему полный МК НЕ ПОДХОДИТ как основной метод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91634" y="2697004"/>
            <a:ext cx="13247013" cy="4169569"/>
          </a:xfrm>
          <a:prstGeom prst="roundRect">
            <a:avLst>
              <a:gd name="adj" fmla="val 169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9254" y="2704624"/>
            <a:ext cx="13231773" cy="4338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67370" y="2797493"/>
            <a:ext cx="983575" cy="24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Страница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94322" y="2797493"/>
            <a:ext cx="2302907" cy="24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Раздел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0605" y="2797493"/>
            <a:ext cx="3626048" cy="24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Цитата (оригинал)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10030" y="2797493"/>
            <a:ext cx="4953119" cy="24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Связь с задачей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9254" y="3138488"/>
            <a:ext cx="13231773" cy="117824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67370" y="3231356"/>
            <a:ext cx="983575" cy="24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стр. iv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94322" y="3231356"/>
            <a:ext cx="2302907" cy="24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Foreword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0605" y="3231356"/>
            <a:ext cx="3626048" cy="992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...will greatly help to assure the completeness and correctness of Monte Carlo analyses, and will ensure against errors, omissions, and fallacious assumptions...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810030" y="3231356"/>
            <a:ext cx="4953119" cy="49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Полный МК требует тщательной настройки — для первичной оценки это избыточно.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9254" y="4316730"/>
            <a:ext cx="13231773" cy="9301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67370" y="4409599"/>
            <a:ext cx="983575" cy="49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стр. 21 (Табл. 2)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94322" y="4409599"/>
            <a:ext cx="2302907" cy="24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§4.1 How Many Samples?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0605" y="4409599"/>
            <a:ext cx="3626048" cy="49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...N = 2,879 runs для 99.865% success с 10% consumer risk.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810030" y="4409599"/>
            <a:ext cx="4953119" cy="744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Почти 3000 прогонов для статистической верификации — при быстром симуляторе (&lt; 1 с/прогон) всё равно ~50 мин вычислений без добавления физического понимания.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9254" y="5246846"/>
            <a:ext cx="13231773" cy="6819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67370" y="5339715"/>
            <a:ext cx="983575" cy="24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стр. 26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94322" y="5339715"/>
            <a:ext cx="2302907" cy="24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§4.3 Rare Events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0605" y="5339715"/>
            <a:ext cx="3626048" cy="49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results are desired for events that happen only rarely, special techniques are required.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10030" y="5339715"/>
            <a:ext cx="4953119" cy="49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Наш «наихудший сценарий» — не редкое событие, а определённые начальные условия: лучше sweep.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9254" y="5928836"/>
            <a:ext cx="13231773" cy="9301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67370" y="6021705"/>
            <a:ext cx="983575" cy="24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стр. 26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194322" y="6021705"/>
            <a:ext cx="2302907" cy="24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§4.4 Alternative Sampling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0605" y="6021705"/>
            <a:ext cx="3626048" cy="744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New sampling techniques... can predict the output probabilistic measure accurately with the minimum number of samples.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810030" y="6021705"/>
            <a:ext cx="4953119" cy="49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Сами авторы рекомендуют Latin Hypercube вместо наивного МК — т.е. sweep предпочтительнее.</a:t>
            </a:r>
            <a:endParaRPr lang="en-US" sz="1300" dirty="0"/>
          </a:p>
        </p:txBody>
      </p:sp>
      <p:sp>
        <p:nvSpPr>
          <p:cNvPr id="29" name="Прямоугольник 28"/>
          <p:cNvSpPr/>
          <p:nvPr/>
        </p:nvSpPr>
        <p:spPr>
          <a:xfrm>
            <a:off x="12722942" y="7600335"/>
            <a:ext cx="1907458" cy="6292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3345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14262"/>
            <a:ext cx="13042821" cy="99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Пояснение к цитатам — почему полный МК НЕ НУЖЕН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3103364"/>
            <a:ext cx="4215289" cy="3411974"/>
          </a:xfrm>
          <a:prstGeom prst="roundRect">
            <a:avLst>
              <a:gd name="adj" fmla="val 2443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5008" y="332458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Стр. 26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15008" y="3753802"/>
            <a:ext cx="3772853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нашей задачи наихудший сценарий — это не редкое случайное событие, а вполне определённые начальные условия (максимальная угловая скорость платформы). Sweep находит его детерминированно за 8 прогонов.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207437" y="3103364"/>
            <a:ext cx="4215408" cy="3411974"/>
          </a:xfrm>
          <a:prstGeom prst="roundRect">
            <a:avLst>
              <a:gd name="adj" fmla="val 2443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28655" y="3324582"/>
            <a:ext cx="254900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Стр. 74 (Табл.10)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428655" y="3753802"/>
            <a:ext cx="3772972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Таблица 10 Hanson требует N=2879 прогонов для статистической верификации требования 99.865% при CR=10%. Наш вопрос проще: «меньше ли Y_max 1000 м?» — на него достаточно 8–12 прогонов sweep.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621203" y="3103364"/>
            <a:ext cx="4215289" cy="3411974"/>
          </a:xfrm>
          <a:prstGeom prst="roundRect">
            <a:avLst>
              <a:gd name="adj" fmla="val 2443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42421" y="332458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Стр. 26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42421" y="3753802"/>
            <a:ext cx="3772853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Hanson сам рекомендует Latin Hypercube Sampling как более эффективную альтернативу наивному МК. Параметрический sweep по фазе качки — ещё более узкий и эффективный подход для нашего одномерного пространства неопределённости.</a:t>
            </a:r>
            <a:endParaRPr lang="en-US" sz="155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12722942" y="7600335"/>
            <a:ext cx="1907458" cy="6292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7760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1285280"/>
            <a:ext cx="782550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Цитаты: почему PCE НЕ ПОДХОДИТ как основной метод (Prabhakar 2010)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3402449" y="2004774"/>
            <a:ext cx="7825502" cy="4939546"/>
          </a:xfrm>
          <a:prstGeom prst="roundRect">
            <a:avLst>
              <a:gd name="adj" fmla="val 84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10069" y="2012394"/>
            <a:ext cx="7810262" cy="1937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509486" y="2049780"/>
            <a:ext cx="969288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Страница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684752" y="2049780"/>
            <a:ext cx="1746528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Раздел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637258" y="2049780"/>
            <a:ext cx="291810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Цитата (оригинал)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761339" y="2049780"/>
            <a:ext cx="135981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Связь с задачей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410069" y="2206109"/>
            <a:ext cx="7810262" cy="90737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509486" y="2243495"/>
            <a:ext cx="969288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стр. 222 (Abstract)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84752" y="2243495"/>
            <a:ext cx="1746528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Abstract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637258" y="2243495"/>
            <a:ext cx="2918103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problem studied here is related to the Mars entry, descent, and landing problems.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9761339" y="2243495"/>
            <a:ext cx="1359813" cy="832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Авторы применяют PCE к гиперзвуковому входу (M&gt;&gt;5). Ракета от старта до 10 км — дозвуковой/трансзвуковой режим; другие нелинейности аэродинамики.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410069" y="3113484"/>
            <a:ext cx="7810262" cy="90737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509486" y="3150870"/>
            <a:ext cx="969288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Debusschere et al. 2005 (цит. в работе)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684752" y="3150870"/>
            <a:ext cx="1746528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Numerical Challenges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637258" y="3150870"/>
            <a:ext cx="2918103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Numerical challenges in the use of polynomial chaos representations for stochastic processes.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761339" y="3150870"/>
            <a:ext cx="1359813" cy="832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Авторы PCE сами признают численные трудности, особенно при разрывах и сильных нелинейностях — прохождение звукового барьера на участке 0–10 км.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410069" y="4020860"/>
            <a:ext cx="7810262" cy="7884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509486" y="4058245"/>
            <a:ext cx="969288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Branicki &amp; Majda 2012 (родств. лит.)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684752" y="4058245"/>
            <a:ext cx="1746528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Limitations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637258" y="4058245"/>
            <a:ext cx="2918103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Fundamental limitations of polynomial chaos for uncertainty quantification on systems with intermittent instabilities.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761339" y="4058245"/>
            <a:ext cx="1359813" cy="71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Ракета от старта — нестационарная нелинейная система с быстро меняющейся массой m(t); сходимость PCE не гарантирована.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410069" y="4809292"/>
            <a:ext cx="7810262" cy="7884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509486" y="4846677"/>
            <a:ext cx="969288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Xiu et al. (источник gPC)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684752" y="4846677"/>
            <a:ext cx="1746528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637258" y="4846677"/>
            <a:ext cx="2918103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the random input has large dimensions...the efficiency of the generalized polynomial chaos expansion is reduced drastically.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761339" y="4846677"/>
            <a:ext cx="1359813" cy="71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добавлении ветра, разброса тяги и ошибок датчиков число переменных растёт — PCE теряет преимущество над МК.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410069" y="5597723"/>
            <a:ext cx="7810262" cy="66948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509486" y="5635109"/>
            <a:ext cx="969288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Tutorial (ISRLAB)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684752" y="5635109"/>
            <a:ext cx="1746528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16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637258" y="5635109"/>
            <a:ext cx="291810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Resulting system is in higher dimensional state space.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761339" y="5635109"/>
            <a:ext cx="1359813" cy="594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ракеты 6-DOF при p=5: 126 связанных ОДУ вместо 6. Требует intrusive реализации — полная переработка интегратора.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410069" y="6267212"/>
            <a:ext cx="7810262" cy="66948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509486" y="6304597"/>
            <a:ext cx="969288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Brevault et al. 2016 (родств. лит.)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684752" y="6304597"/>
            <a:ext cx="1746528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Limitations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637258" y="6304597"/>
            <a:ext cx="2918103" cy="475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Crude Monte Carlo estimation technique is intractable for real world engineering problems for which limit state functions involve expensive black-box functions, e.g. a launcher trajectory optimization code.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9761339" y="6304597"/>
            <a:ext cx="1359813" cy="594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PCE рационален при дорогом симуляторе. Наш прогон занимает секунды — преимущество PCE в экономии незначительно.</a:t>
            </a:r>
            <a:endParaRPr lang="en-US" sz="750" dirty="0"/>
          </a:p>
        </p:txBody>
      </p:sp>
      <p:sp>
        <p:nvSpPr>
          <p:cNvPr id="39" name="Прямоугольник 38"/>
          <p:cNvSpPr/>
          <p:nvPr/>
        </p:nvSpPr>
        <p:spPr>
          <a:xfrm>
            <a:off x="12722942" y="7600335"/>
            <a:ext cx="1907458" cy="6292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4256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3326"/>
            <a:ext cx="130428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Пояснение к цитатам — почему PCE НЕ ПОДХОДИТ (Prabhakar 2010)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53031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844641"/>
            <a:ext cx="6422231" cy="2286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989540"/>
            <a:ext cx="6422231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Контекст авторов — гиперзвук (Mars EDL)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3728918"/>
            <a:ext cx="642223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Ракета от старта — качественно другой режим: v=0 → сверхзвук, нелинейная аэродинамика при M&lt;1.2. Базисные полиномы для гиперзвука могут не дать сходимости.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414379" y="253031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14379" y="2844641"/>
            <a:ext cx="6422231" cy="2286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9" name="Text 7"/>
          <p:cNvSpPr/>
          <p:nvPr/>
        </p:nvSpPr>
        <p:spPr>
          <a:xfrm>
            <a:off x="7414379" y="2989540"/>
            <a:ext cx="358294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Численные трудности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414379" y="3418761"/>
            <a:ext cx="642223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Авторы PCE в своих же ссылках цитируют работу о численных трудностях — прохождение звукового барьера создаёт именно такую нелинейность, при которой сходимость ряда замедляется.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3790" y="5028724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93790" y="5343049"/>
            <a:ext cx="6422231" cy="2286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487948"/>
            <a:ext cx="518791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Нестационарные нелинейности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93790" y="5917168"/>
            <a:ext cx="642223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нестационарных нелинейностях PCE теряет экспоненциальную сходимость. Быстро меняющиеся параметры m(t) и q(t) — именно такой случай. Возможна ошибка, не поддающаяся априорной оценке.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414379" y="5028724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414379" y="5343049"/>
            <a:ext cx="6422231" cy="2286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7" name="Text 15"/>
          <p:cNvSpPr/>
          <p:nvPr/>
        </p:nvSpPr>
        <p:spPr>
          <a:xfrm>
            <a:off x="7414379" y="5487948"/>
            <a:ext cx="297096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Рост размерности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414379" y="5917168"/>
            <a:ext cx="642223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Добавление реалистичных неопределённостей (ветер, разброс тяги, ошибки гироскопов) переводит задачу в 3–5 переменных. Число точек коллокации растёт как O(p^d) — PCE становится сопоставим с МК.</a:t>
            </a:r>
            <a:endParaRPr lang="en-US" sz="1550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12722942" y="7600335"/>
            <a:ext cx="1907458" cy="6292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5957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95268" y="1290399"/>
            <a:ext cx="12239744" cy="969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Анализ применимости робастного управления для задачи запуска ракеты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1195268" y="2503051"/>
            <a:ext cx="12239744" cy="221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 основе анализа книги "Системы автоматического управления полетом и их аналитическое конструирование"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95268" y="2860834"/>
            <a:ext cx="12239744" cy="4078367"/>
          </a:xfrm>
          <a:prstGeom prst="roundRect">
            <a:avLst>
              <a:gd name="adj" fmla="val 159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2888" y="2868454"/>
            <a:ext cx="12224504" cy="38207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358265" y="2948821"/>
            <a:ext cx="1519476" cy="221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Страница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95638" y="2948821"/>
            <a:ext cx="3960614" cy="221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Раздел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74148" y="2948821"/>
            <a:ext cx="5798106" cy="221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Цитата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02888" y="3250525"/>
            <a:ext cx="12224504" cy="82474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358265" y="3330893"/>
            <a:ext cx="1519476" cy="221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95638" y="3330893"/>
            <a:ext cx="3960614" cy="221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Введение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74148" y="3330893"/>
            <a:ext cx="5798106" cy="664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синтезе систем управления летательными аппаратами необходимо исходить из математической модели движения объекта, позволяющей учитывать реальные динамические свойства аппарата.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202888" y="4075271"/>
            <a:ext cx="12224504" cy="60340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358265" y="4155638"/>
            <a:ext cx="1519476" cy="221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95638" y="4155638"/>
            <a:ext cx="3960614" cy="221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Математическое описание систем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74148" y="4155638"/>
            <a:ext cx="5798106" cy="44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Параметры летательного аппарата в процессе движения существенно изменяются, что приводит к нестационарности объекта управления.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202888" y="4678680"/>
            <a:ext cx="12224504" cy="82474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358265" y="4759047"/>
            <a:ext cx="1519476" cy="221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95638" y="4759047"/>
            <a:ext cx="3960614" cy="221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Возмущения в системах управления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74148" y="4759047"/>
            <a:ext cx="5798106" cy="664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 систему управления летательным аппаратом воздействуют различные внешние возмущения, которые требуют непосредственного учета в уравнениях движения.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202888" y="5503426"/>
            <a:ext cx="12224504" cy="82474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358265" y="5583793"/>
            <a:ext cx="1519476" cy="221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95638" y="5583793"/>
            <a:ext cx="3960614" cy="221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Запаздывания и динамика контуров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74148" y="5583793"/>
            <a:ext cx="5798106" cy="664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Наличие запаздываний в измерительных и исполнительных устройствах оказывает заметное влияние на динамику системы и должно учитываться при анализе переходных процессов.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202888" y="6328172"/>
            <a:ext cx="12224504" cy="60340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358265" y="6408539"/>
            <a:ext cx="1519476" cy="221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195638" y="6408539"/>
            <a:ext cx="3960614" cy="221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Управление движением ракеты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74148" y="6408539"/>
            <a:ext cx="5798106" cy="44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управлении движением ракеты на активном участке полета важнейшим является обеспечение требуемой точности траектории.</a:t>
            </a:r>
            <a:endParaRPr lang="en-US" sz="1200" dirty="0"/>
          </a:p>
        </p:txBody>
      </p:sp>
      <p:sp>
        <p:nvSpPr>
          <p:cNvPr id="29" name="Прямоугольник 28"/>
          <p:cNvSpPr/>
          <p:nvPr/>
        </p:nvSpPr>
        <p:spPr>
          <a:xfrm>
            <a:off x="12722942" y="7600335"/>
            <a:ext cx="1907458" cy="6292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5822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272891"/>
            <a:ext cx="782550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Обоснование ограничений робастного управления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402449" y="912971"/>
            <a:ext cx="651950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1. Необходимость точной математической модели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3402449" y="1235393"/>
            <a:ext cx="7825502" cy="292418"/>
          </a:xfrm>
          <a:prstGeom prst="roundRect">
            <a:avLst>
              <a:gd name="adj" fmla="val 14253"/>
            </a:avLst>
          </a:prstGeom>
          <a:solidFill>
            <a:srgbClr val="C1F1E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628" y="1363980"/>
            <a:ext cx="123944" cy="991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724751" y="1309688"/>
            <a:ext cx="7404021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Цитата:</a:t>
            </a: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"При синтезе систем управления летательными аппаратами необходимо исходить из математической модели движения объекта…"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3402449" y="1583531"/>
            <a:ext cx="7825502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Смысл:</a:t>
            </a: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Автор подчёркивает, что для летательных аппаратов система управления должна строиться на основе точной модели движения, включающей реальные динамические параметры.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402449" y="1877139"/>
            <a:ext cx="7825502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Почему это проблема для робастного управления: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3402449" y="2051804"/>
            <a:ext cx="3887986" cy="651510"/>
          </a:xfrm>
          <a:prstGeom prst="roundRect">
            <a:avLst>
              <a:gd name="adj" fmla="val 6397"/>
            </a:avLst>
          </a:prstGeom>
          <a:solidFill>
            <a:srgbClr val="FFFFFF"/>
          </a:solidFill>
          <a:ln w="15240">
            <a:solidFill>
              <a:srgbClr val="BCDB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16868" y="2166223"/>
            <a:ext cx="1863328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Робастное управление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516868" y="2351008"/>
            <a:ext cx="3659148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Ориентируется на устойчивость при неопределённостях и не обязательно использует точную модель движения.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7339965" y="2051804"/>
            <a:ext cx="3887986" cy="651510"/>
          </a:xfrm>
          <a:prstGeom prst="roundRect">
            <a:avLst>
              <a:gd name="adj" fmla="val 6397"/>
            </a:avLst>
          </a:prstGeom>
          <a:solidFill>
            <a:srgbClr val="FFFFFF"/>
          </a:solidFill>
          <a:ln w="15240">
            <a:solidFill>
              <a:srgbClr val="BCDB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4384" y="2166223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Наша задача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454384" y="2351008"/>
            <a:ext cx="3659148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Требует точного вычисления смещения траектории, а не просто устойчивости системы.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402449" y="2759035"/>
            <a:ext cx="7825502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Связь с задачей:</a:t>
            </a: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 задаче требуется определить насколько в метрах сместится ракета на высоте 10 км. Для этого нужна динамическая модель движения, а не только робастный анализ.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402449" y="3071336"/>
            <a:ext cx="585120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2. Нестационарность летательного аппарата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3402449" y="3393758"/>
            <a:ext cx="7825502" cy="292418"/>
          </a:xfrm>
          <a:prstGeom prst="roundRect">
            <a:avLst>
              <a:gd name="adj" fmla="val 14253"/>
            </a:avLst>
          </a:prstGeom>
          <a:solidFill>
            <a:srgbClr val="C1F1E5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628" y="3522345"/>
            <a:ext cx="123944" cy="9917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24751" y="3468052"/>
            <a:ext cx="7404021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Цитата:</a:t>
            </a: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"Параметры летательного аппарата в процессе движения существенно изменяются…"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3402449" y="3741896"/>
            <a:ext cx="7825502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Смысл:</a:t>
            </a: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Ракета — нестационарный объект: масса уменьшается, скорость растёт, аэродинамические характеристики меняются.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3402449" y="3916561"/>
            <a:ext cx="7825502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Почему робастное управление плохо подходит: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3402449" y="4091226"/>
            <a:ext cx="3887986" cy="651510"/>
          </a:xfrm>
          <a:prstGeom prst="roundRect">
            <a:avLst>
              <a:gd name="adj" fmla="val 6397"/>
            </a:avLst>
          </a:prstGeom>
          <a:solidFill>
            <a:srgbClr val="FFFFFF"/>
          </a:solidFill>
          <a:ln w="15240">
            <a:solidFill>
              <a:srgbClr val="BCDBD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516868" y="4205645"/>
            <a:ext cx="1541978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Робастные методы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3516868" y="4390430"/>
            <a:ext cx="3659148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Предполагают неопределённости в небольших пределах.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7339965" y="4091226"/>
            <a:ext cx="3887986" cy="651510"/>
          </a:xfrm>
          <a:prstGeom prst="roundRect">
            <a:avLst>
              <a:gd name="adj" fmla="val 6397"/>
            </a:avLst>
          </a:prstGeom>
          <a:solidFill>
            <a:srgbClr val="FFFFFF"/>
          </a:solidFill>
          <a:ln w="15240">
            <a:solidFill>
              <a:srgbClr val="BCDBD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454384" y="4205645"/>
            <a:ext cx="1558409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Параметры ракеты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7454384" y="4390430"/>
            <a:ext cx="3659148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Сильно изменяются, поэтому система выходит за рамки стандартной робастной модели.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3402449" y="4798457"/>
            <a:ext cx="7825502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Связь с задачей:</a:t>
            </a: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Во время старта ракета быстро ускоряется, динамика меняется каждую секунду. Поэтому робастная модель может дать слишком грубую оценку.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3402449" y="5110758"/>
            <a:ext cx="316265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3. Внешние возмущения</a:t>
            </a:r>
            <a:endParaRPr lang="en-US" sz="1550" dirty="0"/>
          </a:p>
        </p:txBody>
      </p:sp>
      <p:sp>
        <p:nvSpPr>
          <p:cNvPr id="30" name="Shape 26"/>
          <p:cNvSpPr/>
          <p:nvPr/>
        </p:nvSpPr>
        <p:spPr>
          <a:xfrm>
            <a:off x="3402449" y="5433179"/>
            <a:ext cx="7825502" cy="292418"/>
          </a:xfrm>
          <a:prstGeom prst="roundRect">
            <a:avLst>
              <a:gd name="adj" fmla="val 14253"/>
            </a:avLst>
          </a:prstGeom>
          <a:solidFill>
            <a:srgbClr val="C1F1E5"/>
          </a:solidFill>
          <a:ln/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628" y="5561767"/>
            <a:ext cx="123944" cy="99179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3724751" y="5507474"/>
            <a:ext cx="7404021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Цитата:</a:t>
            </a: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"На систему управления летательным аппаратом воздействуют различные внешние возмущения…"</a:t>
            </a:r>
            <a:endParaRPr lang="en-US" sz="750" dirty="0"/>
          </a:p>
        </p:txBody>
      </p:sp>
      <p:sp>
        <p:nvSpPr>
          <p:cNvPr id="33" name="Text 28"/>
          <p:cNvSpPr/>
          <p:nvPr/>
        </p:nvSpPr>
        <p:spPr>
          <a:xfrm>
            <a:off x="3402449" y="5781318"/>
            <a:ext cx="7825502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Смысл:</a:t>
            </a: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К таким возмущениям относятся ветер, турбулентность, движение платформы.</a:t>
            </a:r>
            <a:endParaRPr lang="en-US" sz="750" dirty="0"/>
          </a:p>
        </p:txBody>
      </p:sp>
      <p:sp>
        <p:nvSpPr>
          <p:cNvPr id="34" name="Text 29"/>
          <p:cNvSpPr/>
          <p:nvPr/>
        </p:nvSpPr>
        <p:spPr>
          <a:xfrm>
            <a:off x="3402449" y="5955983"/>
            <a:ext cx="7825502" cy="35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Связь с задачей:</a:t>
            </a: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 нашей задаче есть возмущение — качка морской платформы, период 8 секунд, угол до 2°. Это конкретное динамическое воздействие, которое нужно учитывать в уравнениях движения. Робастное управление обычно рассматривает неопределённости, а не конкретные временные возмущения.</a:t>
            </a:r>
            <a:endParaRPr lang="en-US" sz="750" dirty="0"/>
          </a:p>
        </p:txBody>
      </p:sp>
      <p:sp>
        <p:nvSpPr>
          <p:cNvPr id="35" name="Text 30"/>
          <p:cNvSpPr/>
          <p:nvPr/>
        </p:nvSpPr>
        <p:spPr>
          <a:xfrm>
            <a:off x="3402449" y="6387227"/>
            <a:ext cx="278772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4. Наличие задержки</a:t>
            </a:r>
            <a:endParaRPr lang="en-US" sz="1550" dirty="0"/>
          </a:p>
        </p:txBody>
      </p:sp>
      <p:sp>
        <p:nvSpPr>
          <p:cNvPr id="36" name="Shape 31"/>
          <p:cNvSpPr/>
          <p:nvPr/>
        </p:nvSpPr>
        <p:spPr>
          <a:xfrm>
            <a:off x="3402449" y="6709648"/>
            <a:ext cx="7825502" cy="292418"/>
          </a:xfrm>
          <a:prstGeom prst="roundRect">
            <a:avLst>
              <a:gd name="adj" fmla="val 14253"/>
            </a:avLst>
          </a:prstGeom>
          <a:solidFill>
            <a:srgbClr val="C1F1E5"/>
          </a:solidFill>
          <a:ln/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628" y="6838236"/>
            <a:ext cx="123944" cy="99179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3724751" y="6783943"/>
            <a:ext cx="7404021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Цитата:</a:t>
            </a: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"Наличие запаздываний… оказывает заметное влияние на динамику системы".</a:t>
            </a:r>
            <a:endParaRPr lang="en-US" sz="750" dirty="0"/>
          </a:p>
        </p:txBody>
      </p:sp>
      <p:sp>
        <p:nvSpPr>
          <p:cNvPr id="39" name="Text 33"/>
          <p:cNvSpPr/>
          <p:nvPr/>
        </p:nvSpPr>
        <p:spPr>
          <a:xfrm>
            <a:off x="3402449" y="7057787"/>
            <a:ext cx="7825502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Смысл:</a:t>
            </a: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Если есть задержка τ = 0.3 с, то реакция системы происходит позже, появляется ошибка управления.</a:t>
            </a:r>
            <a:endParaRPr lang="en-US" sz="750" dirty="0"/>
          </a:p>
        </p:txBody>
      </p:sp>
      <p:sp>
        <p:nvSpPr>
          <p:cNvPr id="40" name="Text 34"/>
          <p:cNvSpPr/>
          <p:nvPr/>
        </p:nvSpPr>
        <p:spPr>
          <a:xfrm>
            <a:off x="3402449" y="7232452"/>
            <a:ext cx="7825502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Связь с задачей:</a:t>
            </a: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 условии прямо указано — задержка 0.3 секунды между измерением и поворотом сопла. Чтобы оценить влияние этой задержки на траекторию, нужно анализировать переходный процесс, а не только устойчивость системы.</a:t>
            </a:r>
            <a:endParaRPr lang="en-US" sz="750" dirty="0"/>
          </a:p>
        </p:txBody>
      </p:sp>
      <p:sp>
        <p:nvSpPr>
          <p:cNvPr id="69" name="Text 62"/>
          <p:cNvSpPr/>
          <p:nvPr/>
        </p:nvSpPr>
        <p:spPr>
          <a:xfrm>
            <a:off x="3402449" y="10765274"/>
            <a:ext cx="7825502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Поэтому для анализа задачи запуска ракеты с морской платформы целесообразно использовать динамические модели движения и анализ переходных процессов, а не методы робастного управления.</a:t>
            </a:r>
            <a:endParaRPr lang="en-US" sz="750" dirty="0"/>
          </a:p>
        </p:txBody>
      </p:sp>
      <p:sp>
        <p:nvSpPr>
          <p:cNvPr id="42" name="Прямоугольник 41"/>
          <p:cNvSpPr/>
          <p:nvPr/>
        </p:nvSpPr>
        <p:spPr>
          <a:xfrm>
            <a:off x="12722942" y="7600335"/>
            <a:ext cx="1907458" cy="6292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2103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35"/>
          <p:cNvSpPr/>
          <p:nvPr/>
        </p:nvSpPr>
        <p:spPr>
          <a:xfrm>
            <a:off x="3342204" y="773606"/>
            <a:ext cx="4619982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5. Требование точности траектории</a:t>
            </a:r>
            <a:endParaRPr lang="en-US" sz="1550" dirty="0"/>
          </a:p>
        </p:txBody>
      </p:sp>
      <p:sp>
        <p:nvSpPr>
          <p:cNvPr id="71" name="Shape 36"/>
          <p:cNvSpPr/>
          <p:nvPr/>
        </p:nvSpPr>
        <p:spPr>
          <a:xfrm>
            <a:off x="3342204" y="1096027"/>
            <a:ext cx="7825502" cy="292418"/>
          </a:xfrm>
          <a:prstGeom prst="roundRect">
            <a:avLst>
              <a:gd name="adj" fmla="val 14253"/>
            </a:avLst>
          </a:prstGeom>
          <a:solidFill>
            <a:srgbClr val="C1F1E5"/>
          </a:solidFill>
          <a:ln/>
        </p:spPr>
      </p:sp>
      <p:pic>
        <p:nvPicPr>
          <p:cNvPr id="7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383" y="1224614"/>
            <a:ext cx="123944" cy="99179"/>
          </a:xfrm>
          <a:prstGeom prst="rect">
            <a:avLst/>
          </a:prstGeom>
        </p:spPr>
      </p:pic>
      <p:sp>
        <p:nvSpPr>
          <p:cNvPr id="73" name="Text 37"/>
          <p:cNvSpPr/>
          <p:nvPr/>
        </p:nvSpPr>
        <p:spPr>
          <a:xfrm>
            <a:off x="3664506" y="1170322"/>
            <a:ext cx="7404021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Цитата:</a:t>
            </a: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"Важнейшим является обеспечение требуемой точности траектории".</a:t>
            </a:r>
            <a:endParaRPr lang="en-US" sz="750" dirty="0"/>
          </a:p>
        </p:txBody>
      </p:sp>
      <p:sp>
        <p:nvSpPr>
          <p:cNvPr id="74" name="Text 38"/>
          <p:cNvSpPr/>
          <p:nvPr/>
        </p:nvSpPr>
        <p:spPr>
          <a:xfrm>
            <a:off x="3342204" y="1444166"/>
            <a:ext cx="7825502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Смысл:</a:t>
            </a: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Для ракетных систем главное — не просто устойчивость, а точность движения.</a:t>
            </a:r>
            <a:endParaRPr lang="en-US" sz="750" dirty="0"/>
          </a:p>
        </p:txBody>
      </p:sp>
      <p:sp>
        <p:nvSpPr>
          <p:cNvPr id="75" name="Text 39"/>
          <p:cNvSpPr/>
          <p:nvPr/>
        </p:nvSpPr>
        <p:spPr>
          <a:xfrm>
            <a:off x="3342204" y="1618830"/>
            <a:ext cx="7825502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Связь с задачей:</a:t>
            </a: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 задаче требуется сравнить смещение ракеты и точность выведения. То есть задача — оценка ошибки траектории, а не анализ устойчивости. Робастное управление не даёт прямого ответа на такой вопрос.</a:t>
            </a:r>
            <a:endParaRPr lang="en-US" sz="750" dirty="0"/>
          </a:p>
        </p:txBody>
      </p:sp>
      <p:sp>
        <p:nvSpPr>
          <p:cNvPr id="76" name="Text 40"/>
          <p:cNvSpPr/>
          <p:nvPr/>
        </p:nvSpPr>
        <p:spPr>
          <a:xfrm>
            <a:off x="3342204" y="1931131"/>
            <a:ext cx="284059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Итоговое заключение</a:t>
            </a:r>
            <a:endParaRPr lang="en-US" sz="1550" dirty="0"/>
          </a:p>
        </p:txBody>
      </p:sp>
      <p:sp>
        <p:nvSpPr>
          <p:cNvPr id="77" name="Text 41"/>
          <p:cNvSpPr/>
          <p:nvPr/>
        </p:nvSpPr>
        <p:spPr>
          <a:xfrm>
            <a:off x="3342204" y="2253552"/>
            <a:ext cx="7825502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 основе анализа литературы, в частности книги "Системы автоматического управления полетом и их аналитическое конструирование", можно сделать вывод, что применение методов робастного управления для рассматриваемой задачи ограничено. Это связано с тем, что:</a:t>
            </a:r>
            <a:endParaRPr lang="en-US" sz="750" dirty="0"/>
          </a:p>
        </p:txBody>
      </p:sp>
      <p:sp>
        <p:nvSpPr>
          <p:cNvPr id="78" name="Text 42"/>
          <p:cNvSpPr/>
          <p:nvPr/>
        </p:nvSpPr>
        <p:spPr>
          <a:xfrm>
            <a:off x="3342204" y="2547161"/>
            <a:ext cx="99179" cy="123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750" dirty="0"/>
          </a:p>
        </p:txBody>
      </p:sp>
      <p:sp>
        <p:nvSpPr>
          <p:cNvPr id="79" name="Shape 43"/>
          <p:cNvSpPr/>
          <p:nvPr/>
        </p:nvSpPr>
        <p:spPr>
          <a:xfrm>
            <a:off x="3342204" y="2700394"/>
            <a:ext cx="2575441" cy="1524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80" name="Text 44"/>
          <p:cNvSpPr/>
          <p:nvPr/>
        </p:nvSpPr>
        <p:spPr>
          <a:xfrm>
            <a:off x="3342204" y="2780404"/>
            <a:ext cx="1547217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Нестационарность</a:t>
            </a:r>
            <a:endParaRPr lang="en-US" sz="950" dirty="0"/>
          </a:p>
        </p:txBody>
      </p:sp>
      <p:sp>
        <p:nvSpPr>
          <p:cNvPr id="81" name="Text 45"/>
          <p:cNvSpPr/>
          <p:nvPr/>
        </p:nvSpPr>
        <p:spPr>
          <a:xfrm>
            <a:off x="3342204" y="2965189"/>
            <a:ext cx="2575441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Ракета является нестационарным объектом управления</a:t>
            </a:r>
            <a:endParaRPr lang="en-US" sz="750" dirty="0"/>
          </a:p>
        </p:txBody>
      </p:sp>
      <p:sp>
        <p:nvSpPr>
          <p:cNvPr id="82" name="Text 46"/>
          <p:cNvSpPr/>
          <p:nvPr/>
        </p:nvSpPr>
        <p:spPr>
          <a:xfrm>
            <a:off x="5967175" y="2547161"/>
            <a:ext cx="99179" cy="123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750" dirty="0"/>
          </a:p>
        </p:txBody>
      </p:sp>
      <p:sp>
        <p:nvSpPr>
          <p:cNvPr id="83" name="Shape 47"/>
          <p:cNvSpPr/>
          <p:nvPr/>
        </p:nvSpPr>
        <p:spPr>
          <a:xfrm>
            <a:off x="5967175" y="2700394"/>
            <a:ext cx="2575441" cy="1524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84" name="Text 48"/>
          <p:cNvSpPr/>
          <p:nvPr/>
        </p:nvSpPr>
        <p:spPr>
          <a:xfrm>
            <a:off x="5967175" y="2780404"/>
            <a:ext cx="171164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Точность траектории</a:t>
            </a:r>
            <a:endParaRPr lang="en-US" sz="950" dirty="0"/>
          </a:p>
        </p:txBody>
      </p:sp>
      <p:sp>
        <p:nvSpPr>
          <p:cNvPr id="85" name="Text 49"/>
          <p:cNvSpPr/>
          <p:nvPr/>
        </p:nvSpPr>
        <p:spPr>
          <a:xfrm>
            <a:off x="5967175" y="2965189"/>
            <a:ext cx="2575441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Требуется точная оценка отклонения траектории, а не только устойчивости системы</a:t>
            </a:r>
            <a:endParaRPr lang="en-US" sz="750" dirty="0"/>
          </a:p>
        </p:txBody>
      </p:sp>
      <p:sp>
        <p:nvSpPr>
          <p:cNvPr id="86" name="Text 50"/>
          <p:cNvSpPr/>
          <p:nvPr/>
        </p:nvSpPr>
        <p:spPr>
          <a:xfrm>
            <a:off x="8592146" y="2547161"/>
            <a:ext cx="99179" cy="123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750" dirty="0"/>
          </a:p>
        </p:txBody>
      </p:sp>
      <p:sp>
        <p:nvSpPr>
          <p:cNvPr id="87" name="Shape 51"/>
          <p:cNvSpPr/>
          <p:nvPr/>
        </p:nvSpPr>
        <p:spPr>
          <a:xfrm>
            <a:off x="8592146" y="2700394"/>
            <a:ext cx="2575560" cy="1524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88" name="Text 52"/>
          <p:cNvSpPr/>
          <p:nvPr/>
        </p:nvSpPr>
        <p:spPr>
          <a:xfrm>
            <a:off x="8592146" y="2780404"/>
            <a:ext cx="1792367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Внешнее возмущение</a:t>
            </a:r>
            <a:endParaRPr lang="en-US" sz="950" dirty="0"/>
          </a:p>
        </p:txBody>
      </p:sp>
      <p:sp>
        <p:nvSpPr>
          <p:cNvPr id="89" name="Text 53"/>
          <p:cNvSpPr/>
          <p:nvPr/>
        </p:nvSpPr>
        <p:spPr>
          <a:xfrm>
            <a:off x="8592146" y="2965189"/>
            <a:ext cx="2575560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Присутствует внешнее возмущение в виде качки морской платформы</a:t>
            </a:r>
            <a:endParaRPr lang="en-US" sz="750" dirty="0"/>
          </a:p>
        </p:txBody>
      </p:sp>
      <p:sp>
        <p:nvSpPr>
          <p:cNvPr id="90" name="Text 54"/>
          <p:cNvSpPr/>
          <p:nvPr/>
        </p:nvSpPr>
        <p:spPr>
          <a:xfrm>
            <a:off x="3342204" y="3327020"/>
            <a:ext cx="99179" cy="123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750" dirty="0"/>
          </a:p>
        </p:txBody>
      </p:sp>
      <p:sp>
        <p:nvSpPr>
          <p:cNvPr id="91" name="Shape 55"/>
          <p:cNvSpPr/>
          <p:nvPr/>
        </p:nvSpPr>
        <p:spPr>
          <a:xfrm>
            <a:off x="3342204" y="3480253"/>
            <a:ext cx="3887986" cy="1524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92" name="Text 56"/>
          <p:cNvSpPr/>
          <p:nvPr/>
        </p:nvSpPr>
        <p:spPr>
          <a:xfrm>
            <a:off x="3342204" y="3560263"/>
            <a:ext cx="1672590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Задержка в системе</a:t>
            </a:r>
            <a:endParaRPr lang="en-US" sz="950" dirty="0"/>
          </a:p>
        </p:txBody>
      </p:sp>
      <p:sp>
        <p:nvSpPr>
          <p:cNvPr id="93" name="Text 57"/>
          <p:cNvSpPr/>
          <p:nvPr/>
        </p:nvSpPr>
        <p:spPr>
          <a:xfrm>
            <a:off x="3342204" y="3745048"/>
            <a:ext cx="3887986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системе управления имеется задержка 0.3 с</a:t>
            </a:r>
            <a:endParaRPr lang="en-US" sz="750" dirty="0"/>
          </a:p>
        </p:txBody>
      </p:sp>
      <p:sp>
        <p:nvSpPr>
          <p:cNvPr id="94" name="Text 58"/>
          <p:cNvSpPr/>
          <p:nvPr/>
        </p:nvSpPr>
        <p:spPr>
          <a:xfrm>
            <a:off x="7279720" y="3327020"/>
            <a:ext cx="99179" cy="123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05</a:t>
            </a:r>
            <a:endParaRPr lang="en-US" sz="750" dirty="0"/>
          </a:p>
        </p:txBody>
      </p:sp>
      <p:sp>
        <p:nvSpPr>
          <p:cNvPr id="95" name="Shape 59"/>
          <p:cNvSpPr/>
          <p:nvPr/>
        </p:nvSpPr>
        <p:spPr>
          <a:xfrm>
            <a:off x="7279720" y="3480253"/>
            <a:ext cx="3887986" cy="1524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96" name="Text 60"/>
          <p:cNvSpPr/>
          <p:nvPr/>
        </p:nvSpPr>
        <p:spPr>
          <a:xfrm>
            <a:off x="7279720" y="3560263"/>
            <a:ext cx="1742718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Требование точности</a:t>
            </a:r>
            <a:endParaRPr lang="en-US" sz="950" dirty="0"/>
          </a:p>
        </p:txBody>
      </p:sp>
      <p:sp>
        <p:nvSpPr>
          <p:cNvPr id="97" name="Text 61"/>
          <p:cNvSpPr/>
          <p:nvPr/>
        </p:nvSpPr>
        <p:spPr>
          <a:xfrm>
            <a:off x="7279720" y="3745048"/>
            <a:ext cx="3887986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Ключевым требованием является точность выведения на орбиту</a:t>
            </a:r>
            <a:endParaRPr lang="en-US" sz="750" dirty="0"/>
          </a:p>
        </p:txBody>
      </p:sp>
      <p:sp>
        <p:nvSpPr>
          <p:cNvPr id="30" name="Прямоугольник 29"/>
          <p:cNvSpPr/>
          <p:nvPr/>
        </p:nvSpPr>
        <p:spPr>
          <a:xfrm>
            <a:off x="12722942" y="7600335"/>
            <a:ext cx="1907458" cy="6292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4129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32309" y="1603653"/>
            <a:ext cx="8165783" cy="5022294"/>
          </a:xfrm>
          <a:prstGeom prst="roundRect">
            <a:avLst>
              <a:gd name="adj" fmla="val 86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39929" y="1611273"/>
            <a:ext cx="8149709" cy="20609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344228" y="1651278"/>
            <a:ext cx="2505551" cy="126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№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064329" y="1651278"/>
            <a:ext cx="2501741" cy="126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Причина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780621" y="1651278"/>
            <a:ext cx="2505551" cy="126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Страница/раздел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39929" y="1817370"/>
            <a:ext cx="8149709" cy="58435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344228" y="1857375"/>
            <a:ext cx="2505551" cy="126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64329" y="1857375"/>
            <a:ext cx="2501741" cy="504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SISO-ограничение</a:t>
            </a: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метод работает только для систем с одним входом и одним выходом. Система ракеты — MIMO (тангаж, рыскание, крен).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780621" y="1857375"/>
            <a:ext cx="2505551" cy="126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Assumption 4.1, с. 4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39929" y="2401729"/>
            <a:ext cx="8149709" cy="5843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344228" y="2441734"/>
            <a:ext cx="2505551" cy="126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64329" y="2441734"/>
            <a:ext cx="2501741" cy="504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Только LTI-системы</a:t>
            </a: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метод требует линейной инвариантности по времени. Ракета — нелинейная нестационарная система (меняется масса, аэродинамика).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780621" y="2441734"/>
            <a:ext cx="2505551" cy="126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 Statement, с. 3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39929" y="2986088"/>
            <a:ext cx="8149709" cy="8365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344228" y="3026093"/>
            <a:ext cx="2505551" cy="126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64329" y="3026093"/>
            <a:ext cx="2501741" cy="756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Задержка ≠ случайный параметр</a:t>
            </a: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метод моделирует неопределённость как ограниченные случайные переменные с распределением. Задержка 0,3 с — фиксированная транспортная задержка, а не случайный параметр.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780621" y="3026093"/>
            <a:ext cx="2505551" cy="126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 Statement, с. 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39929" y="3822621"/>
            <a:ext cx="8149709" cy="5843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344228" y="3862626"/>
            <a:ext cx="2505551" cy="126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64329" y="3862626"/>
            <a:ext cx="2501741" cy="504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Требование бипропорности M₂₂(s)</a:t>
            </a: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нарушается при наличии задержки (аппроксимация Паде или строго правильные ФПУ ракеты).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780621" y="3862626"/>
            <a:ext cx="2505551" cy="126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Assumption 4.2, с. 4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39929" y="4406979"/>
            <a:ext cx="8149709" cy="58435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344228" y="4446984"/>
            <a:ext cx="2505551" cy="126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064329" y="4446984"/>
            <a:ext cx="2501741" cy="504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H₂-норма ≠ точность выведения</a:t>
            </a: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метод измеряет дисперсию выхода при белом шуме. Наш вопрос — накопленная ошибка из-за задержки на активном участке.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780621" y="4446984"/>
            <a:ext cx="2505551" cy="126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Introduction, с. 2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39929" y="4991338"/>
            <a:ext cx="8149709" cy="5843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344228" y="5031343"/>
            <a:ext cx="2505551" cy="126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064329" y="5031343"/>
            <a:ext cx="2501741" cy="504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 loop theorem неприменима для MIMO</a:t>
            </a: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авторы прямо указывают, что теорема, на которой строится весь алгоритм, неприменима для MIMO-систем.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780621" y="5031343"/>
            <a:ext cx="2505551" cy="126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Remark 4.2, с. 5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39929" y="5575697"/>
            <a:ext cx="8149709" cy="45827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344228" y="5615702"/>
            <a:ext cx="2505551" cy="126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64329" y="5615702"/>
            <a:ext cx="2501741" cy="378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Вычислительно дорого</a:t>
            </a: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метод требует покрытия всего частотного диапазона с большим числом вычислений.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780621" y="5615702"/>
            <a:ext cx="2505551" cy="126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Conclusion, с. 7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39929" y="6033968"/>
            <a:ext cx="8149709" cy="5843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344228" y="6073973"/>
            <a:ext cx="2505551" cy="126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064329" y="6073973"/>
            <a:ext cx="2501741" cy="504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Авторы сами признают ограниченность</a:t>
            </a: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«extensive work will be carried out to relax the assumptions so as to make the proposed algorithms applicable to realistic systems»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780621" y="6073973"/>
            <a:ext cx="2505551" cy="126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Conclusion, с. 7</a:t>
            </a:r>
            <a:endParaRPr lang="en-US" sz="800" dirty="0"/>
          </a:p>
        </p:txBody>
      </p:sp>
      <p:sp>
        <p:nvSpPr>
          <p:cNvPr id="39" name="Прямоугольник 38"/>
          <p:cNvSpPr/>
          <p:nvPr/>
        </p:nvSpPr>
        <p:spPr>
          <a:xfrm>
            <a:off x="12722942" y="7600335"/>
            <a:ext cx="1907458" cy="6292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7285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1252418"/>
            <a:ext cx="7825502" cy="744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Обоснование несоответствия метода H₂-нормы требованиям задачи анализа задержки управления ракетой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3402449" y="2016204"/>
            <a:ext cx="4369713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Цитата 1 — «Вероятность нарушения нормы»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3402449" y="2276594"/>
            <a:ext cx="7825502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Объяснено аналогией: метод отвечает на вопрос «с какой вероятностью система будет работать плохо?», тогда как нам нужен конкретный ответ «да/нет» на вопрос о задержке 0,3 с. Аналогия: инструмент для страхового расчёта не поможет измерить, пройдёт ли машина в ворота.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02449" y="2588895"/>
            <a:ext cx="6026229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Цитата 2 — «Только LTI-система с случайными параметрами»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402449" y="2849285"/>
            <a:ext cx="7825502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Детально разобраны все три требования: линейность, инвариантность по времени, случайные параметры. Для каждого показано, почему ракета его нарушает (нелинейная аэродинамика, убывающая масса, фиксированная задержка ≠ случайная переменная).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402449" y="3161586"/>
            <a:ext cx="2490311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Цитата 3 — «Только SISO»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02449" y="3421975"/>
            <a:ext cx="7825502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Объяснено что такое SISO и MIMO на бытовом уровне (газ→скорость vs. тангаж+рыскание+крен). Показано, что управление ракетой ведётся по трём осям одновременно.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02449" y="3734276"/>
            <a:ext cx="2856190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Цитата 4 — «Бипропорность»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02449" y="3994666"/>
            <a:ext cx="7825502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Объяснено понятие строго правильной и бипропорной функции через физику: любая реальная система «срезает» очень высокие частоты — значит она строго правильная. Показано, как задержка e⁻⁰·³ˢ усугубляет проблему.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402449" y="4306967"/>
            <a:ext cx="4944904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Цитата 5 — «Допущения ещё предстоит ослабить»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02449" y="4567357"/>
            <a:ext cx="7825502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Аналогия с мостом: нельзя строить реальный объект по методу, который сами авторы считают незрелым.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402449" y="4760714"/>
            <a:ext cx="5519976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Цитата 6 — «Для MIMO main loop theorem неприменима»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02449" y="5021104"/>
            <a:ext cx="7825502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Объяснена разница скалярного числа (SISO) и матрицы (MIMO): математический «трюк» работает только с числами, для матриц он математически невозможен.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02449" y="5333405"/>
            <a:ext cx="4989790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Цитата 7 — «H₂-норма — для стационарного шума»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02449" y="5593794"/>
            <a:ext cx="7825502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Объяснено что такое белый шум и дисперсия. Аналогия: H₂-норма — это «средняя температура по больнице», а нам нужен конкретный диагноз конкретного пациента.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02449" y="5906095"/>
            <a:ext cx="3967996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Цитата 8 — «Вычислительно дороже H∞»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02449" y="6166485"/>
            <a:ext cx="7825502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Аналогия: обследовать всю территорию с высоким разрешением (H₂) vs. найти только самую высокую точку (H∞). Наша задача решается простым расчётом запаса по фазе — суперкомпьютер не нужен.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402449" y="6478786"/>
            <a:ext cx="5736669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Цитата 9 — «Ещё не применим к реалистичным системам»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02449" y="6739176"/>
            <a:ext cx="7825502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Самая весомая цитата — авторы прямо в заключении признают незрелость метода. Sea Launch — именно тот класс «реалистичных систем», для которых метод по их собственным словам не готов.</a:t>
            </a:r>
            <a:endParaRPr lang="en-US" sz="750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12722942" y="7600335"/>
            <a:ext cx="1907458" cy="6292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021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3389</Words>
  <Application>Microsoft Office PowerPoint</Application>
  <PresentationFormat>Произвольный</PresentationFormat>
  <Paragraphs>327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Unbounded Light</vt:lpstr>
      <vt:lpstr>Arial</vt:lpstr>
      <vt:lpstr>Unbounded Bold</vt:lpstr>
      <vt:lpstr>Open Sans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Дмитрий</dc:creator>
  <cp:lastModifiedBy>Дмитрий</cp:lastModifiedBy>
  <cp:revision>5</cp:revision>
  <dcterms:created xsi:type="dcterms:W3CDTF">2026-03-14T00:33:17Z</dcterms:created>
  <dcterms:modified xsi:type="dcterms:W3CDTF">2026-03-14T01:09:13Z</dcterms:modified>
</cp:coreProperties>
</file>